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Vuti%20Baloyi\School\Brighlearn%20Data%20Analytics\Bright%20TV%20Case%20study\Query%20results%20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[Query results Analysis.xlsx]Demographics!PivotTable10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3035336471630664E-4"/>
          <c:y val="0.33138950393264072"/>
          <c:w val="0.78609253065774809"/>
          <c:h val="0.59650844393202929"/>
        </c:manualLayout>
      </c:layout>
      <c:pie3DChart>
        <c:varyColors val="1"/>
        <c:ser>
          <c:idx val="0"/>
          <c:order val="0"/>
          <c:tx>
            <c:strRef>
              <c:f>Demographics!$B$32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6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101-4C79-9306-D9A4EE52E7BF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101-4C79-9306-D9A4EE52E7BF}"/>
              </c:ext>
            </c:extLst>
          </c:dPt>
          <c:dPt>
            <c:idx val="2"/>
            <c:bubble3D val="0"/>
            <c:spPr>
              <a:solidFill>
                <a:schemeClr val="accent1">
                  <a:shade val="6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101-4C79-9306-D9A4EE52E7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Demographics!$A$33:$A$36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None</c:v>
                </c:pt>
              </c:strCache>
            </c:strRef>
          </c:cat>
          <c:val>
            <c:numRef>
              <c:f>Demographics!$B$33:$B$36</c:f>
              <c:numCache>
                <c:formatCode>General</c:formatCode>
                <c:ptCount val="3"/>
                <c:pt idx="0">
                  <c:v>946</c:v>
                </c:pt>
                <c:pt idx="1">
                  <c:v>8430</c:v>
                </c:pt>
                <c:pt idx="2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01-4C79-9306-D9A4EE52E7B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[Query results Analysis.xlsx]Demographics!PivotTable1</c:name>
    <c:fmtId val="2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5198015785353278E-2"/>
          <c:y val="6.2779210952648989E-2"/>
          <c:w val="0.74694920775256768"/>
          <c:h val="0.90792382393611482"/>
        </c:manualLayout>
      </c:layout>
      <c:pie3DChart>
        <c:varyColors val="1"/>
        <c:ser>
          <c:idx val="0"/>
          <c:order val="0"/>
          <c:tx>
            <c:strRef>
              <c:f>Demographics!$B$47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9B4-4258-A5FA-FDF33972EB07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9B4-4258-A5FA-FDF33972EB07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9B4-4258-A5FA-FDF33972EB07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9B4-4258-A5FA-FDF33972EB0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Demographics!$A$48:$A$52</c:f>
              <c:strCache>
                <c:ptCount val="4"/>
                <c:pt idx="0">
                  <c:v>Adults</c:v>
                </c:pt>
                <c:pt idx="1">
                  <c:v>Kids</c:v>
                </c:pt>
                <c:pt idx="2">
                  <c:v>Senior</c:v>
                </c:pt>
                <c:pt idx="3">
                  <c:v>Youth</c:v>
                </c:pt>
              </c:strCache>
            </c:strRef>
          </c:cat>
          <c:val>
            <c:numRef>
              <c:f>Demographics!$B$48:$B$52</c:f>
              <c:numCache>
                <c:formatCode>General</c:formatCode>
                <c:ptCount val="4"/>
                <c:pt idx="0">
                  <c:v>3257</c:v>
                </c:pt>
                <c:pt idx="1">
                  <c:v>521</c:v>
                </c:pt>
                <c:pt idx="2">
                  <c:v>100</c:v>
                </c:pt>
                <c:pt idx="3">
                  <c:v>5753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B4-4258-A5FA-FDF33972EB0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[Query results Analysis.xlsx]Demographics!PivotTable9</c:name>
    <c:fmtId val="19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2345679012345678E-2"/>
          <c:y val="0.38401447486974577"/>
          <c:w val="0.72030280937105085"/>
          <c:h val="0.54757756493124932"/>
        </c:manualLayout>
      </c:layout>
      <c:pie3DChart>
        <c:varyColors val="1"/>
        <c:ser>
          <c:idx val="0"/>
          <c:order val="0"/>
          <c:tx>
            <c:strRef>
              <c:f>Demographics!$B$19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47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0A6-471E-AC44-77946702C9F6}"/>
              </c:ext>
            </c:extLst>
          </c:dPt>
          <c:dPt>
            <c:idx val="1"/>
            <c:bubble3D val="0"/>
            <c:spPr>
              <a:solidFill>
                <a:schemeClr val="accent1">
                  <a:shade val="6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0A6-471E-AC44-77946702C9F6}"/>
              </c:ext>
            </c:extLst>
          </c:dPt>
          <c:dPt>
            <c:idx val="2"/>
            <c:bubble3D val="0"/>
            <c:spPr>
              <a:solidFill>
                <a:schemeClr val="accent1">
                  <a:shade val="82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0A6-471E-AC44-77946702C9F6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30A6-471E-AC44-77946702C9F6}"/>
              </c:ext>
            </c:extLst>
          </c:dPt>
          <c:dPt>
            <c:idx val="4"/>
            <c:bubble3D val="0"/>
            <c:spPr>
              <a:solidFill>
                <a:schemeClr val="accent1">
                  <a:tint val="83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30A6-471E-AC44-77946702C9F6}"/>
              </c:ext>
            </c:extLst>
          </c:dPt>
          <c:dPt>
            <c:idx val="5"/>
            <c:bubble3D val="0"/>
            <c:spPr>
              <a:solidFill>
                <a:schemeClr val="accent1">
                  <a:tint val="6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30A6-471E-AC44-77946702C9F6}"/>
              </c:ext>
            </c:extLst>
          </c:dPt>
          <c:dPt>
            <c:idx val="6"/>
            <c:bubble3D val="0"/>
            <c:spPr>
              <a:solidFill>
                <a:schemeClr val="accent1">
                  <a:tint val="4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30A6-471E-AC44-77946702C9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Demographics!$A$20:$A$27</c:f>
              <c:strCache>
                <c:ptCount val="7"/>
                <c:pt idx="0">
                  <c:v>black</c:v>
                </c:pt>
                <c:pt idx="1">
                  <c:v>coloured</c:v>
                </c:pt>
                <c:pt idx="2">
                  <c:v>indian_asian</c:v>
                </c:pt>
                <c:pt idx="3">
                  <c:v>None</c:v>
                </c:pt>
                <c:pt idx="4">
                  <c:v>other</c:v>
                </c:pt>
                <c:pt idx="5">
                  <c:v>white</c:v>
                </c:pt>
                <c:pt idx="6">
                  <c:v>(blank)</c:v>
                </c:pt>
              </c:strCache>
            </c:strRef>
          </c:cat>
          <c:val>
            <c:numRef>
              <c:f>Demographics!$B$20:$B$27</c:f>
              <c:numCache>
                <c:formatCode>General</c:formatCode>
                <c:ptCount val="7"/>
                <c:pt idx="0">
                  <c:v>4195</c:v>
                </c:pt>
                <c:pt idx="1">
                  <c:v>1582</c:v>
                </c:pt>
                <c:pt idx="2">
                  <c:v>1488</c:v>
                </c:pt>
                <c:pt idx="3">
                  <c:v>1013</c:v>
                </c:pt>
                <c:pt idx="4">
                  <c:v>100</c:v>
                </c:pt>
                <c:pt idx="5">
                  <c:v>1243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0A6-471E-AC44-77946702C9F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 Analysis.xlsx]Usage !PivotTable3</c:name>
    <c:fmtId val="65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'Usage '!$B$20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'Usage '!$A$21:$A$40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'!$B$21:$B$40</c:f>
              <c:numCache>
                <c:formatCode>_(* #,##0.00_);_(* \(#,##0.00\);_(* "-"??_);_(@_)</c:formatCode>
                <c:ptCount val="19"/>
                <c:pt idx="0">
                  <c:v>2927.016645000002</c:v>
                </c:pt>
                <c:pt idx="1">
                  <c:v>4395.5500069999998</c:v>
                </c:pt>
                <c:pt idx="2">
                  <c:v>53.500000000000014</c:v>
                </c:pt>
                <c:pt idx="3">
                  <c:v>4215.2833280000032</c:v>
                </c:pt>
                <c:pt idx="4">
                  <c:v>11565.35000000002</c:v>
                </c:pt>
                <c:pt idx="5">
                  <c:v>4066.6499980000017</c:v>
                </c:pt>
                <c:pt idx="6">
                  <c:v>290.08333399999998</c:v>
                </c:pt>
                <c:pt idx="7">
                  <c:v>2219.066671000001</c:v>
                </c:pt>
                <c:pt idx="8">
                  <c:v>24727.533337000012</c:v>
                </c:pt>
                <c:pt idx="9">
                  <c:v>162.39999999999995</c:v>
                </c:pt>
                <c:pt idx="10">
                  <c:v>4.7</c:v>
                </c:pt>
                <c:pt idx="11">
                  <c:v>40.883333</c:v>
                </c:pt>
                <c:pt idx="12">
                  <c:v>234.0333380000001</c:v>
                </c:pt>
                <c:pt idx="13">
                  <c:v>625.13333300000022</c:v>
                </c:pt>
                <c:pt idx="14">
                  <c:v>5440.7666670000071</c:v>
                </c:pt>
                <c:pt idx="15">
                  <c:v>18814.63334299999</c:v>
                </c:pt>
                <c:pt idx="16">
                  <c:v>11515.449999999988</c:v>
                </c:pt>
                <c:pt idx="17">
                  <c:v>86.283329999999992</c:v>
                </c:pt>
                <c:pt idx="18">
                  <c:v>0.51666699999999999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72-4CD6-8181-A2DB44801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28918240"/>
        <c:axId val="128918720"/>
      </c:barChart>
      <c:catAx>
        <c:axId val="1289182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18720"/>
        <c:crosses val="autoZero"/>
        <c:auto val="1"/>
        <c:lblAlgn val="ctr"/>
        <c:lblOffset val="100"/>
        <c:noMultiLvlLbl val="0"/>
      </c:catAx>
      <c:valAx>
        <c:axId val="1289187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18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results Analysis.xlsx]Usage !PivotTable8</c:name>
    <c:fmtId val="9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'Usage '!$B$174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'Usage '!$A$175:$A$182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'Usage '!$B$175:$B$182</c:f>
              <c:numCache>
                <c:formatCode>_(* #,##0.00_);_(* \(#,##0.00\);_(* "-"??_);_(@_)</c:formatCode>
                <c:ptCount val="7"/>
                <c:pt idx="0">
                  <c:v>6894.4999960000014</c:v>
                </c:pt>
                <c:pt idx="1">
                  <c:v>11933.283325000006</c:v>
                </c:pt>
                <c:pt idx="2">
                  <c:v>14047.566673999985</c:v>
                </c:pt>
                <c:pt idx="3">
                  <c:v>13938.383333000018</c:v>
                </c:pt>
                <c:pt idx="4">
                  <c:v>15115.483338999971</c:v>
                </c:pt>
                <c:pt idx="5">
                  <c:v>17761.983331999963</c:v>
                </c:pt>
                <c:pt idx="6">
                  <c:v>11693.633331999999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47-4C29-8217-640846B4F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262061376"/>
        <c:axId val="262062336"/>
      </c:barChart>
      <c:catAx>
        <c:axId val="2620613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 dirty="0"/>
                  <a:t>Day</a:t>
                </a:r>
                <a:r>
                  <a:rPr lang="en-ZA" baseline="0" dirty="0"/>
                  <a:t> of the week</a:t>
                </a:r>
                <a:endParaRPr lang="en-Z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062336"/>
        <c:crosses val="autoZero"/>
        <c:auto val="1"/>
        <c:lblAlgn val="ctr"/>
        <c:lblOffset val="100"/>
        <c:noMultiLvlLbl val="0"/>
      </c:catAx>
      <c:valAx>
        <c:axId val="262062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 dirty="0"/>
                  <a:t>Total minutes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.00_);_(* \(#,##0.0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061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[Query results Analysis.xlsx]Usage !PivotTable4</c:name>
    <c:fmtId val="74"/>
  </c:pivotSource>
  <c:chart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'Usage '!$B$46:$B$47</c:f>
              <c:strCache>
                <c:ptCount val="1"/>
                <c:pt idx="0">
                  <c:v>Afternoon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8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58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5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'Usage '!$A$48:$A$67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'!$B$48:$B$67</c:f>
              <c:numCache>
                <c:formatCode>_(* #,##0.00_);_(* \(#,##0.00\);_(* "-"??_);_(@_)</c:formatCode>
                <c:ptCount val="19"/>
                <c:pt idx="0">
                  <c:v>864.14998599999967</c:v>
                </c:pt>
                <c:pt idx="1">
                  <c:v>1295.7333359999998</c:v>
                </c:pt>
                <c:pt idx="2">
                  <c:v>14.199998000000001</c:v>
                </c:pt>
                <c:pt idx="3">
                  <c:v>1198.466672</c:v>
                </c:pt>
                <c:pt idx="4">
                  <c:v>4240.6499999999987</c:v>
                </c:pt>
                <c:pt idx="5">
                  <c:v>1389.2499960000002</c:v>
                </c:pt>
                <c:pt idx="6">
                  <c:v>87.249999000000017</c:v>
                </c:pt>
                <c:pt idx="7">
                  <c:v>432.60000200000002</c:v>
                </c:pt>
                <c:pt idx="8">
                  <c:v>17655.733337000005</c:v>
                </c:pt>
                <c:pt idx="9">
                  <c:v>34.400000000000006</c:v>
                </c:pt>
                <c:pt idx="11">
                  <c:v>11.316667000000001</c:v>
                </c:pt>
                <c:pt idx="12">
                  <c:v>67.850000999999978</c:v>
                </c:pt>
                <c:pt idx="13">
                  <c:v>238.58333500000001</c:v>
                </c:pt>
                <c:pt idx="14">
                  <c:v>1659.0999929999998</c:v>
                </c:pt>
                <c:pt idx="15">
                  <c:v>7331.3666660000008</c:v>
                </c:pt>
                <c:pt idx="16">
                  <c:v>3891.5000000000023</c:v>
                </c:pt>
                <c:pt idx="17">
                  <c:v>22.233332000000001</c:v>
                </c:pt>
                <c:pt idx="18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95-41B3-9611-F9C9848CA7C8}"/>
            </c:ext>
          </c:extLst>
        </c:ser>
        <c:ser>
          <c:idx val="1"/>
          <c:order val="1"/>
          <c:tx>
            <c:strRef>
              <c:f>'Usage '!$C$46:$C$47</c:f>
              <c:strCache>
                <c:ptCount val="1"/>
                <c:pt idx="0">
                  <c:v>Late Night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8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8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8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'Usage '!$A$48:$A$67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'!$C$48:$C$67</c:f>
              <c:numCache>
                <c:formatCode>_(* #,##0.00_);_(* \(#,##0.00\);_(* "-"??_);_(@_)</c:formatCode>
                <c:ptCount val="19"/>
                <c:pt idx="0">
                  <c:v>693.23333700000001</c:v>
                </c:pt>
                <c:pt idx="1">
                  <c:v>913.8166640000004</c:v>
                </c:pt>
                <c:pt idx="2">
                  <c:v>1.6166670000000001</c:v>
                </c:pt>
                <c:pt idx="3">
                  <c:v>584.89999799999987</c:v>
                </c:pt>
                <c:pt idx="4">
                  <c:v>1191.3500000000001</c:v>
                </c:pt>
                <c:pt idx="5">
                  <c:v>623.59999999999991</c:v>
                </c:pt>
                <c:pt idx="6">
                  <c:v>17.916665999999999</c:v>
                </c:pt>
                <c:pt idx="7">
                  <c:v>469.93333299999995</c:v>
                </c:pt>
                <c:pt idx="8">
                  <c:v>9.0666660000000014</c:v>
                </c:pt>
                <c:pt idx="9">
                  <c:v>27.45</c:v>
                </c:pt>
                <c:pt idx="10">
                  <c:v>3.5</c:v>
                </c:pt>
                <c:pt idx="11">
                  <c:v>7.0333330000000007</c:v>
                </c:pt>
                <c:pt idx="12">
                  <c:v>36.549999</c:v>
                </c:pt>
                <c:pt idx="13">
                  <c:v>95.449999999999989</c:v>
                </c:pt>
                <c:pt idx="14">
                  <c:v>469.51666800000015</c:v>
                </c:pt>
                <c:pt idx="15">
                  <c:v>641.16666900000018</c:v>
                </c:pt>
                <c:pt idx="16">
                  <c:v>1986.15</c:v>
                </c:pt>
                <c:pt idx="17">
                  <c:v>14.366667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95-41B3-9611-F9C9848CA7C8}"/>
            </c:ext>
          </c:extLst>
        </c:ser>
        <c:ser>
          <c:idx val="2"/>
          <c:order val="2"/>
          <c:tx>
            <c:strRef>
              <c:f>'Usage '!$D$46:$D$47</c:f>
              <c:strCache>
                <c:ptCount val="1"/>
                <c:pt idx="0">
                  <c:v>Morning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8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8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'Usage '!$A$48:$A$67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'!$D$48:$D$67</c:f>
              <c:numCache>
                <c:formatCode>_(* #,##0.00_);_(* \(#,##0.00\);_(* "-"??_);_(@_)</c:formatCode>
                <c:ptCount val="19"/>
                <c:pt idx="0">
                  <c:v>415.83332400000029</c:v>
                </c:pt>
                <c:pt idx="1">
                  <c:v>968.76667099999986</c:v>
                </c:pt>
                <c:pt idx="2">
                  <c:v>2.8666670000000005</c:v>
                </c:pt>
                <c:pt idx="3">
                  <c:v>953.93333300000029</c:v>
                </c:pt>
                <c:pt idx="4">
                  <c:v>2796.3000000000006</c:v>
                </c:pt>
                <c:pt idx="5">
                  <c:v>866.26666399999999</c:v>
                </c:pt>
                <c:pt idx="6">
                  <c:v>44.250001000000005</c:v>
                </c:pt>
                <c:pt idx="7">
                  <c:v>491.60000399999984</c:v>
                </c:pt>
                <c:pt idx="8">
                  <c:v>4913.466671000001</c:v>
                </c:pt>
                <c:pt idx="9">
                  <c:v>14.450000000000001</c:v>
                </c:pt>
                <c:pt idx="10">
                  <c:v>1.2</c:v>
                </c:pt>
                <c:pt idx="11">
                  <c:v>7.0499989999999997</c:v>
                </c:pt>
                <c:pt idx="12">
                  <c:v>49.466666999999994</c:v>
                </c:pt>
                <c:pt idx="13">
                  <c:v>147.38333299999999</c:v>
                </c:pt>
                <c:pt idx="14">
                  <c:v>1446.8166730000007</c:v>
                </c:pt>
                <c:pt idx="15">
                  <c:v>4179.3666709999989</c:v>
                </c:pt>
                <c:pt idx="16">
                  <c:v>2596.3000000000015</c:v>
                </c:pt>
                <c:pt idx="17">
                  <c:v>18.233333000000002</c:v>
                </c:pt>
                <c:pt idx="18">
                  <c:v>0.26666699999999999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95-41B3-9611-F9C9848CA7C8}"/>
            </c:ext>
          </c:extLst>
        </c:ser>
        <c:ser>
          <c:idx val="3"/>
          <c:order val="3"/>
          <c:tx>
            <c:strRef>
              <c:f>'Usage '!$E$46:$E$47</c:f>
              <c:strCache>
                <c:ptCount val="1"/>
                <c:pt idx="0">
                  <c:v>Night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8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58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5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'Usage '!$A$48:$A$67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'!$E$48:$E$67</c:f>
              <c:numCache>
                <c:formatCode>_(* #,##0.00_);_(* \(#,##0.00\);_(* "-"??_);_(@_)</c:formatCode>
                <c:ptCount val="19"/>
                <c:pt idx="0">
                  <c:v>953.79999799999985</c:v>
                </c:pt>
                <c:pt idx="1">
                  <c:v>1217.2333360000002</c:v>
                </c:pt>
                <c:pt idx="2">
                  <c:v>34.816667999999993</c:v>
                </c:pt>
                <c:pt idx="3">
                  <c:v>1477.9833249999988</c:v>
                </c:pt>
                <c:pt idx="4">
                  <c:v>3337.049999999997</c:v>
                </c:pt>
                <c:pt idx="5">
                  <c:v>1187.5333380000006</c:v>
                </c:pt>
                <c:pt idx="6">
                  <c:v>140.66666800000002</c:v>
                </c:pt>
                <c:pt idx="7">
                  <c:v>824.93333199999984</c:v>
                </c:pt>
                <c:pt idx="8">
                  <c:v>2149.2666630000003</c:v>
                </c:pt>
                <c:pt idx="9">
                  <c:v>86.1</c:v>
                </c:pt>
                <c:pt idx="11">
                  <c:v>15.483333999999999</c:v>
                </c:pt>
                <c:pt idx="12">
                  <c:v>80.166670999999994</c:v>
                </c:pt>
                <c:pt idx="13">
                  <c:v>143.71666500000003</c:v>
                </c:pt>
                <c:pt idx="14">
                  <c:v>1865.3333330000009</c:v>
                </c:pt>
                <c:pt idx="15">
                  <c:v>6662.733336999996</c:v>
                </c:pt>
                <c:pt idx="16">
                  <c:v>3041.5000000000005</c:v>
                </c:pt>
                <c:pt idx="17">
                  <c:v>31.449998000000004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295-41B3-9611-F9C9848CA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8944640"/>
        <c:axId val="128948480"/>
      </c:barChart>
      <c:catAx>
        <c:axId val="128944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48480"/>
        <c:crosses val="autoZero"/>
        <c:auto val="1"/>
        <c:lblAlgn val="ctr"/>
        <c:lblOffset val="100"/>
        <c:noMultiLvlLbl val="0"/>
      </c:catAx>
      <c:valAx>
        <c:axId val="12894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44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[Query results Analysis.xlsx]Usage !PivotTable9</c:name>
    <c:fmtId val="11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'Usage '!$B$193:$B$194</c:f>
              <c:strCache>
                <c:ptCount val="1"/>
                <c:pt idx="0">
                  <c:v>Mon</c:v>
                </c:pt>
              </c:strCache>
            </c:strRef>
          </c:tx>
          <c:spPr>
            <a:solidFill>
              <a:schemeClr val="accent1">
                <a:shade val="47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'!$B$195:$B$214</c:f>
              <c:numCache>
                <c:formatCode>_(* #,##0.00_);_(* \(#,##0.00\);_(* "-"??_);_(@_)</c:formatCode>
                <c:ptCount val="19"/>
                <c:pt idx="0">
                  <c:v>333.16666400000003</c:v>
                </c:pt>
                <c:pt idx="1">
                  <c:v>530.24999700000012</c:v>
                </c:pt>
                <c:pt idx="2">
                  <c:v>2.5999999999999996</c:v>
                </c:pt>
                <c:pt idx="3">
                  <c:v>331.13333400000005</c:v>
                </c:pt>
                <c:pt idx="4">
                  <c:v>1422.8999999999996</c:v>
                </c:pt>
                <c:pt idx="5">
                  <c:v>420.3666639999999</c:v>
                </c:pt>
                <c:pt idx="6">
                  <c:v>89.500000999999997</c:v>
                </c:pt>
                <c:pt idx="7">
                  <c:v>276.70000099999993</c:v>
                </c:pt>
                <c:pt idx="8">
                  <c:v>666.23333500000001</c:v>
                </c:pt>
                <c:pt idx="9">
                  <c:v>20.85</c:v>
                </c:pt>
                <c:pt idx="10">
                  <c:v>4.7</c:v>
                </c:pt>
                <c:pt idx="11">
                  <c:v>6.7166670000000011</c:v>
                </c:pt>
                <c:pt idx="12">
                  <c:v>31.416666999999997</c:v>
                </c:pt>
                <c:pt idx="13">
                  <c:v>118.35</c:v>
                </c:pt>
                <c:pt idx="14">
                  <c:v>558.25</c:v>
                </c:pt>
                <c:pt idx="15">
                  <c:v>775.86666699999989</c:v>
                </c:pt>
                <c:pt idx="16">
                  <c:v>1296.4499999999998</c:v>
                </c:pt>
                <c:pt idx="17">
                  <c:v>9.0499989999999997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9-4966-8D6A-23E0DC9A13C6}"/>
            </c:ext>
          </c:extLst>
        </c:ser>
        <c:ser>
          <c:idx val="1"/>
          <c:order val="1"/>
          <c:tx>
            <c:strRef>
              <c:f>'Usage '!$C$193:$C$194</c:f>
              <c:strCache>
                <c:ptCount val="1"/>
                <c:pt idx="0">
                  <c:v>Tue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'!$C$195:$C$214</c:f>
              <c:numCache>
                <c:formatCode>_(* #,##0.00_);_(* \(#,##0.00\);_(* "-"??_);_(@_)</c:formatCode>
                <c:ptCount val="19"/>
                <c:pt idx="0">
                  <c:v>356.76666400000022</c:v>
                </c:pt>
                <c:pt idx="1">
                  <c:v>586.66666799999985</c:v>
                </c:pt>
                <c:pt idx="2">
                  <c:v>31.166669000000002</c:v>
                </c:pt>
                <c:pt idx="3">
                  <c:v>581.43333400000029</c:v>
                </c:pt>
                <c:pt idx="4">
                  <c:v>1234.2500000000005</c:v>
                </c:pt>
                <c:pt idx="5">
                  <c:v>249.23333199999993</c:v>
                </c:pt>
                <c:pt idx="6">
                  <c:v>30.833333</c:v>
                </c:pt>
                <c:pt idx="7">
                  <c:v>230.03333500000002</c:v>
                </c:pt>
                <c:pt idx="8">
                  <c:v>4063.1333270000009</c:v>
                </c:pt>
                <c:pt idx="9">
                  <c:v>8.5500000000000007</c:v>
                </c:pt>
                <c:pt idx="11">
                  <c:v>1.65</c:v>
                </c:pt>
                <c:pt idx="12">
                  <c:v>22.366667</c:v>
                </c:pt>
                <c:pt idx="13">
                  <c:v>103.08333199999998</c:v>
                </c:pt>
                <c:pt idx="14">
                  <c:v>1077.9000000000003</c:v>
                </c:pt>
                <c:pt idx="15">
                  <c:v>1404.1999979999998</c:v>
                </c:pt>
                <c:pt idx="16">
                  <c:v>1942.7499999999993</c:v>
                </c:pt>
                <c:pt idx="17">
                  <c:v>9.266665999999999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39-4966-8D6A-23E0DC9A13C6}"/>
            </c:ext>
          </c:extLst>
        </c:ser>
        <c:ser>
          <c:idx val="2"/>
          <c:order val="2"/>
          <c:tx>
            <c:strRef>
              <c:f>'Usage '!$D$193:$D$194</c:f>
              <c:strCache>
                <c:ptCount val="1"/>
                <c:pt idx="0">
                  <c:v>Wed</c:v>
                </c:pt>
              </c:strCache>
            </c:strRef>
          </c:tx>
          <c:spPr>
            <a:solidFill>
              <a:schemeClr val="accent1">
                <a:shade val="82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'!$D$195:$D$214</c:f>
              <c:numCache>
                <c:formatCode>_(* #,##0.00_);_(* \(#,##0.00\);_(* "-"??_);_(@_)</c:formatCode>
                <c:ptCount val="19"/>
                <c:pt idx="0">
                  <c:v>460.78333100000009</c:v>
                </c:pt>
                <c:pt idx="1">
                  <c:v>442.75000299999999</c:v>
                </c:pt>
                <c:pt idx="2">
                  <c:v>1.75</c:v>
                </c:pt>
                <c:pt idx="3">
                  <c:v>413.08333400000004</c:v>
                </c:pt>
                <c:pt idx="4">
                  <c:v>1754.3</c:v>
                </c:pt>
                <c:pt idx="5">
                  <c:v>854.68333400000017</c:v>
                </c:pt>
                <c:pt idx="6">
                  <c:v>33.083331999999999</c:v>
                </c:pt>
                <c:pt idx="7">
                  <c:v>284.36666500000001</c:v>
                </c:pt>
                <c:pt idx="8">
                  <c:v>6785.8333429999975</c:v>
                </c:pt>
                <c:pt idx="9">
                  <c:v>45.8</c:v>
                </c:pt>
                <c:pt idx="11">
                  <c:v>14.033334</c:v>
                </c:pt>
                <c:pt idx="12">
                  <c:v>23.300001000000002</c:v>
                </c:pt>
                <c:pt idx="13">
                  <c:v>109.816667</c:v>
                </c:pt>
                <c:pt idx="14">
                  <c:v>698.73332999999968</c:v>
                </c:pt>
                <c:pt idx="15">
                  <c:v>930.93333399999995</c:v>
                </c:pt>
                <c:pt idx="16">
                  <c:v>1184.5499999999995</c:v>
                </c:pt>
                <c:pt idx="17">
                  <c:v>9.7666660000000007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39-4966-8D6A-23E0DC9A13C6}"/>
            </c:ext>
          </c:extLst>
        </c:ser>
        <c:ser>
          <c:idx val="3"/>
          <c:order val="3"/>
          <c:tx>
            <c:strRef>
              <c:f>'Usage '!$E$193:$E$194</c:f>
              <c:strCache>
                <c:ptCount val="1"/>
                <c:pt idx="0">
                  <c:v>Thu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'!$E$195:$E$214</c:f>
              <c:numCache>
                <c:formatCode>_(* #,##0.00_);_(* \(#,##0.00\);_(* "-"??_);_(@_)</c:formatCode>
                <c:ptCount val="19"/>
                <c:pt idx="0">
                  <c:v>402.31666200000024</c:v>
                </c:pt>
                <c:pt idx="1">
                  <c:v>672.83333299999993</c:v>
                </c:pt>
                <c:pt idx="2">
                  <c:v>1.7499989999999999</c:v>
                </c:pt>
                <c:pt idx="3">
                  <c:v>429.53333200000009</c:v>
                </c:pt>
                <c:pt idx="4">
                  <c:v>2009.9999999999989</c:v>
                </c:pt>
                <c:pt idx="5">
                  <c:v>980.78333300000043</c:v>
                </c:pt>
                <c:pt idx="6">
                  <c:v>28.916667</c:v>
                </c:pt>
                <c:pt idx="7">
                  <c:v>160.400002</c:v>
                </c:pt>
                <c:pt idx="8">
                  <c:v>795.73333100000013</c:v>
                </c:pt>
                <c:pt idx="9">
                  <c:v>21.749999999999996</c:v>
                </c:pt>
                <c:pt idx="11">
                  <c:v>3.5666670000000003</c:v>
                </c:pt>
                <c:pt idx="12">
                  <c:v>49.233333000000002</c:v>
                </c:pt>
                <c:pt idx="13">
                  <c:v>63.883333000000007</c:v>
                </c:pt>
                <c:pt idx="14">
                  <c:v>649.55000099999984</c:v>
                </c:pt>
                <c:pt idx="15">
                  <c:v>5510.6333399999958</c:v>
                </c:pt>
                <c:pt idx="16">
                  <c:v>2146.65</c:v>
                </c:pt>
                <c:pt idx="17">
                  <c:v>10.850000000000001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C39-4966-8D6A-23E0DC9A13C6}"/>
            </c:ext>
          </c:extLst>
        </c:ser>
        <c:ser>
          <c:idx val="4"/>
          <c:order val="4"/>
          <c:tx>
            <c:strRef>
              <c:f>'Usage '!$F$193:$F$194</c:f>
              <c:strCache>
                <c:ptCount val="1"/>
                <c:pt idx="0">
                  <c:v>Fri</c:v>
                </c:pt>
              </c:strCache>
            </c:strRef>
          </c:tx>
          <c:spPr>
            <a:solidFill>
              <a:schemeClr val="accent1">
                <a:tint val="83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'!$F$195:$F$214</c:f>
              <c:numCache>
                <c:formatCode>_(* #,##0.00_);_(* \(#,##0.00\);_(* "-"??_);_(@_)</c:formatCode>
                <c:ptCount val="19"/>
                <c:pt idx="0">
                  <c:v>519.13332500000001</c:v>
                </c:pt>
                <c:pt idx="1">
                  <c:v>563.80000500000006</c:v>
                </c:pt>
                <c:pt idx="3">
                  <c:v>513.9166680000003</c:v>
                </c:pt>
                <c:pt idx="4">
                  <c:v>2021.6499999999992</c:v>
                </c:pt>
                <c:pt idx="5">
                  <c:v>828.36667000000034</c:v>
                </c:pt>
                <c:pt idx="6">
                  <c:v>31.083335000000002</c:v>
                </c:pt>
                <c:pt idx="7">
                  <c:v>522.53333399999997</c:v>
                </c:pt>
                <c:pt idx="8">
                  <c:v>2912.5333280000004</c:v>
                </c:pt>
                <c:pt idx="9">
                  <c:v>18.2</c:v>
                </c:pt>
                <c:pt idx="11">
                  <c:v>2.699999</c:v>
                </c:pt>
                <c:pt idx="12">
                  <c:v>43.050001000000002</c:v>
                </c:pt>
                <c:pt idx="13">
                  <c:v>84.366668000000018</c:v>
                </c:pt>
                <c:pt idx="14">
                  <c:v>678.05000199999995</c:v>
                </c:pt>
                <c:pt idx="15">
                  <c:v>4685.6000030000023</c:v>
                </c:pt>
                <c:pt idx="16">
                  <c:v>1674.1999999999998</c:v>
                </c:pt>
                <c:pt idx="17">
                  <c:v>16.300000999999998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39-4966-8D6A-23E0DC9A13C6}"/>
            </c:ext>
          </c:extLst>
        </c:ser>
        <c:ser>
          <c:idx val="5"/>
          <c:order val="5"/>
          <c:tx>
            <c:strRef>
              <c:f>'Usage '!$G$193:$G$194</c:f>
              <c:strCache>
                <c:ptCount val="1"/>
                <c:pt idx="0">
                  <c:v>Sat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'!$G$195:$G$214</c:f>
              <c:numCache>
                <c:formatCode>_(* #,##0.00_);_(* \(#,##0.00\);_(* "-"??_);_(@_)</c:formatCode>
                <c:ptCount val="19"/>
                <c:pt idx="0">
                  <c:v>539.71666600000026</c:v>
                </c:pt>
                <c:pt idx="1">
                  <c:v>1038.2499989999999</c:v>
                </c:pt>
                <c:pt idx="2">
                  <c:v>7.8999980000000019</c:v>
                </c:pt>
                <c:pt idx="3">
                  <c:v>844.09999500000015</c:v>
                </c:pt>
                <c:pt idx="4">
                  <c:v>1711.0000000000005</c:v>
                </c:pt>
                <c:pt idx="5">
                  <c:v>185.85000000000002</c:v>
                </c:pt>
                <c:pt idx="6">
                  <c:v>43</c:v>
                </c:pt>
                <c:pt idx="7">
                  <c:v>405.56666399999995</c:v>
                </c:pt>
                <c:pt idx="8">
                  <c:v>6405.5666720000008</c:v>
                </c:pt>
                <c:pt idx="9">
                  <c:v>16.600000000000001</c:v>
                </c:pt>
                <c:pt idx="11">
                  <c:v>2.8333329999999997</c:v>
                </c:pt>
                <c:pt idx="12">
                  <c:v>21.766669000000004</c:v>
                </c:pt>
                <c:pt idx="13">
                  <c:v>50.183335000000014</c:v>
                </c:pt>
                <c:pt idx="14">
                  <c:v>888.35000099999991</c:v>
                </c:pt>
                <c:pt idx="15">
                  <c:v>4303.6333339999974</c:v>
                </c:pt>
                <c:pt idx="16">
                  <c:v>1285.4999999999995</c:v>
                </c:pt>
                <c:pt idx="17">
                  <c:v>11.649998999999999</c:v>
                </c:pt>
                <c:pt idx="18">
                  <c:v>0.51666699999999999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C39-4966-8D6A-23E0DC9A13C6}"/>
            </c:ext>
          </c:extLst>
        </c:ser>
        <c:ser>
          <c:idx val="6"/>
          <c:order val="6"/>
          <c:tx>
            <c:strRef>
              <c:f>'Usage '!$H$193:$H$194</c:f>
              <c:strCache>
                <c:ptCount val="1"/>
                <c:pt idx="0">
                  <c:v>Sun</c:v>
                </c:pt>
              </c:strCache>
            </c:strRef>
          </c:tx>
          <c:spPr>
            <a:solidFill>
              <a:schemeClr val="accent1">
                <a:tint val="48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'!$A$195:$A$214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'!$H$195:$H$214</c:f>
              <c:numCache>
                <c:formatCode>_(* #,##0.00_);_(* \(#,##0.00\);_(* "-"??_);_(@_)</c:formatCode>
                <c:ptCount val="19"/>
                <c:pt idx="0">
                  <c:v>315.13333300000005</c:v>
                </c:pt>
                <c:pt idx="1">
                  <c:v>561.00000199999988</c:v>
                </c:pt>
                <c:pt idx="2">
                  <c:v>8.3333339999999989</c:v>
                </c:pt>
                <c:pt idx="3">
                  <c:v>1102.0833309999998</c:v>
                </c:pt>
                <c:pt idx="4">
                  <c:v>1411.2499999999998</c:v>
                </c:pt>
                <c:pt idx="5">
                  <c:v>547.3666649999999</c:v>
                </c:pt>
                <c:pt idx="6">
                  <c:v>33.666666000000006</c:v>
                </c:pt>
                <c:pt idx="7">
                  <c:v>339.46666999999991</c:v>
                </c:pt>
                <c:pt idx="8">
                  <c:v>3098.5000009999994</c:v>
                </c:pt>
                <c:pt idx="9">
                  <c:v>30.650000000000002</c:v>
                </c:pt>
                <c:pt idx="11">
                  <c:v>9.3833330000000004</c:v>
                </c:pt>
                <c:pt idx="12">
                  <c:v>42.900000000000006</c:v>
                </c:pt>
                <c:pt idx="13">
                  <c:v>95.449998000000008</c:v>
                </c:pt>
                <c:pt idx="14">
                  <c:v>889.93333300000018</c:v>
                </c:pt>
                <c:pt idx="15">
                  <c:v>1203.7666669999999</c:v>
                </c:pt>
                <c:pt idx="16">
                  <c:v>1985.3500000000004</c:v>
                </c:pt>
                <c:pt idx="17">
                  <c:v>19.399998999999998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39-4966-8D6A-23E0DC9A1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35529152"/>
        <c:axId val="435538272"/>
      </c:barChart>
      <c:catAx>
        <c:axId val="43552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538272"/>
        <c:crosses val="autoZero"/>
        <c:auto val="1"/>
        <c:lblAlgn val="ctr"/>
        <c:lblOffset val="100"/>
        <c:noMultiLvlLbl val="0"/>
      </c:catAx>
      <c:valAx>
        <c:axId val="43553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529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[Query results Analysis.xlsx]Usage !PivotTable5</c:name>
    <c:fmtId val="7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034514435695537"/>
          <c:y val="0.13786818314377369"/>
          <c:w val="0.66701596675415575"/>
          <c:h val="0.353158355205599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'Usage '!$B$72:$B$73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'!$A$74:$A$93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'!$B$74:$B$93</c:f>
              <c:numCache>
                <c:formatCode>_(* #,##0.00_);_(* \(#,##0.00\);_(* "-"??_);_(@_)</c:formatCode>
                <c:ptCount val="19"/>
                <c:pt idx="0">
                  <c:v>829.54999699999985</c:v>
                </c:pt>
                <c:pt idx="1">
                  <c:v>420.65000400000014</c:v>
                </c:pt>
                <c:pt idx="2">
                  <c:v>0.41666599999999998</c:v>
                </c:pt>
                <c:pt idx="3">
                  <c:v>819.73333400000035</c:v>
                </c:pt>
                <c:pt idx="4">
                  <c:v>1322.1499999999996</c:v>
                </c:pt>
                <c:pt idx="5">
                  <c:v>92.033334000000011</c:v>
                </c:pt>
                <c:pt idx="6">
                  <c:v>39.916665000000016</c:v>
                </c:pt>
                <c:pt idx="7">
                  <c:v>475.83333200000004</c:v>
                </c:pt>
                <c:pt idx="8">
                  <c:v>1032.0333349999999</c:v>
                </c:pt>
                <c:pt idx="9">
                  <c:v>0</c:v>
                </c:pt>
                <c:pt idx="10">
                  <c:v>1.2</c:v>
                </c:pt>
                <c:pt idx="11">
                  <c:v>4.2999990000000006</c:v>
                </c:pt>
                <c:pt idx="12">
                  <c:v>23.1</c:v>
                </c:pt>
                <c:pt idx="13">
                  <c:v>46.766663000000001</c:v>
                </c:pt>
                <c:pt idx="14">
                  <c:v>252.51666299999999</c:v>
                </c:pt>
                <c:pt idx="15">
                  <c:v>1198.7333330000001</c:v>
                </c:pt>
                <c:pt idx="16">
                  <c:v>1750.65</c:v>
                </c:pt>
                <c:pt idx="17">
                  <c:v>6.7666669999999991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9-46D0-BBB0-DDAA832A08E6}"/>
            </c:ext>
          </c:extLst>
        </c:ser>
        <c:ser>
          <c:idx val="1"/>
          <c:order val="1"/>
          <c:tx>
            <c:strRef>
              <c:f>'Usage '!$C$72:$C$73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'Usage '!$A$74:$A$93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'!$C$74:$C$93</c:f>
              <c:numCache>
                <c:formatCode>_(* #,##0.00_);_(* \(#,##0.00\);_(* "-"??_);_(@_)</c:formatCode>
                <c:ptCount val="19"/>
                <c:pt idx="0">
                  <c:v>2048.1999830000009</c:v>
                </c:pt>
                <c:pt idx="1">
                  <c:v>3845.7000030000027</c:v>
                </c:pt>
                <c:pt idx="2">
                  <c:v>52.31666700000001</c:v>
                </c:pt>
                <c:pt idx="3">
                  <c:v>3298.2999929999987</c:v>
                </c:pt>
                <c:pt idx="4">
                  <c:v>9868.8000000000065</c:v>
                </c:pt>
                <c:pt idx="5">
                  <c:v>3909.3999980000017</c:v>
                </c:pt>
                <c:pt idx="6">
                  <c:v>233.1666689999999</c:v>
                </c:pt>
                <c:pt idx="7">
                  <c:v>1692.7666720000002</c:v>
                </c:pt>
                <c:pt idx="8">
                  <c:v>22749.700002000016</c:v>
                </c:pt>
                <c:pt idx="9">
                  <c:v>155.64999999999992</c:v>
                </c:pt>
                <c:pt idx="10">
                  <c:v>3.5</c:v>
                </c:pt>
                <c:pt idx="11">
                  <c:v>27.866667</c:v>
                </c:pt>
                <c:pt idx="12">
                  <c:v>204.366671</c:v>
                </c:pt>
                <c:pt idx="13">
                  <c:v>562.90000399999997</c:v>
                </c:pt>
                <c:pt idx="14">
                  <c:v>5063.8833360000044</c:v>
                </c:pt>
                <c:pt idx="15">
                  <c:v>17390.333341999998</c:v>
                </c:pt>
                <c:pt idx="16">
                  <c:v>9712.5499999999938</c:v>
                </c:pt>
                <c:pt idx="17">
                  <c:v>78.716662999999983</c:v>
                </c:pt>
                <c:pt idx="18">
                  <c:v>0.51666699999999999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29-46D0-BBB0-DDAA832A08E6}"/>
            </c:ext>
          </c:extLst>
        </c:ser>
        <c:ser>
          <c:idx val="2"/>
          <c:order val="2"/>
          <c:tx>
            <c:strRef>
              <c:f>'Usage '!$D$72:$D$73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'Usage '!$A$74:$A$93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'Usage '!$D$74:$D$93</c:f>
              <c:numCache>
                <c:formatCode>_(* #,##0.00_);_(* \(#,##0.00\);_(* "-"??_);_(@_)</c:formatCode>
                <c:ptCount val="19"/>
                <c:pt idx="0">
                  <c:v>49.266665000000003</c:v>
                </c:pt>
                <c:pt idx="1">
                  <c:v>129.20000000000002</c:v>
                </c:pt>
                <c:pt idx="2">
                  <c:v>0.76666699999999999</c:v>
                </c:pt>
                <c:pt idx="3">
                  <c:v>97.250000999999997</c:v>
                </c:pt>
                <c:pt idx="4">
                  <c:v>374.40000000000003</c:v>
                </c:pt>
                <c:pt idx="5">
                  <c:v>65.216666000000004</c:v>
                </c:pt>
                <c:pt idx="6">
                  <c:v>17</c:v>
                </c:pt>
                <c:pt idx="7">
                  <c:v>50.466667000000001</c:v>
                </c:pt>
                <c:pt idx="8">
                  <c:v>945.80000000000007</c:v>
                </c:pt>
                <c:pt idx="9">
                  <c:v>6.7499999999999991</c:v>
                </c:pt>
                <c:pt idx="11">
                  <c:v>8.7166670000000011</c:v>
                </c:pt>
                <c:pt idx="12">
                  <c:v>6.5666669999999998</c:v>
                </c:pt>
                <c:pt idx="13">
                  <c:v>15.466666</c:v>
                </c:pt>
                <c:pt idx="14">
                  <c:v>124.366668</c:v>
                </c:pt>
                <c:pt idx="15">
                  <c:v>225.56666799999999</c:v>
                </c:pt>
                <c:pt idx="16">
                  <c:v>52.25</c:v>
                </c:pt>
                <c:pt idx="17">
                  <c:v>0.79999999999999993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29-46D0-BBB0-DDAA832A0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8936000"/>
        <c:axId val="128937440"/>
      </c:barChart>
      <c:catAx>
        <c:axId val="12893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37440"/>
        <c:crosses val="autoZero"/>
        <c:auto val="1"/>
        <c:lblAlgn val="ctr"/>
        <c:lblOffset val="100"/>
        <c:noMultiLvlLbl val="0"/>
      </c:catAx>
      <c:valAx>
        <c:axId val="12893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36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7756C-5B9E-4812-80C7-D2ADC34DDDCF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83833-7E4C-4F18-A59B-6BE5081AB4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7926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83833-7E4C-4F18-A59B-6BE5081AB4FC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9487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6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1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0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3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3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8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0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4" name="Picture 13" descr="Vintage yellow TV on top of a wood plank with blue background">
            <a:extLst>
              <a:ext uri="{FF2B5EF4-FFF2-40B4-BE49-F238E27FC236}">
                <a16:creationId xmlns:a16="http://schemas.microsoft.com/office/drawing/2014/main" id="{E58C8D37-4E91-5C9B-671D-3A1EE18A2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16" b="34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A5229-F86F-4EC4-E4BB-572F1BBA6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ZA" sz="5800"/>
              <a:t>BRIGHT TV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5E8C9-929A-BF85-47A0-3CC9E8917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ZA" sz="2200"/>
              <a:t>PRESENTED BY: VUTIHLAMULERI PRECIOUS BALOYI </a:t>
            </a:r>
          </a:p>
        </p:txBody>
      </p:sp>
    </p:spTree>
    <p:extLst>
      <p:ext uri="{BB962C8B-B14F-4D97-AF65-F5344CB8AC3E}">
        <p14:creationId xmlns:p14="http://schemas.microsoft.com/office/powerpoint/2010/main" val="1140204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1F01-164B-A90D-32B7-BA80387E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USERS OF BRIGHT TV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76C6C4C-C85D-138C-EF6F-BEB99396DD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229132"/>
              </p:ext>
            </p:extLst>
          </p:nvPr>
        </p:nvGraphicFramePr>
        <p:xfrm>
          <a:off x="6845725" y="3338825"/>
          <a:ext cx="4893991" cy="3219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34D0DFA-D496-4E7D-CE8E-23AED96808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3605394"/>
              </p:ext>
            </p:extLst>
          </p:nvPr>
        </p:nvGraphicFramePr>
        <p:xfrm>
          <a:off x="7088049" y="992640"/>
          <a:ext cx="4178177" cy="3034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2AAAF92-4788-3BF2-8042-4F0C14138B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849337"/>
              </p:ext>
            </p:extLst>
          </p:nvPr>
        </p:nvGraphicFramePr>
        <p:xfrm>
          <a:off x="694608" y="1680898"/>
          <a:ext cx="5919951" cy="393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6597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5AAF-07B2-4CF8-ACD2-2A76270B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DEMOGRAPICS OF BRIGHT TV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707B8-1B45-9522-8992-D6EB7D6DC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BRIGHT TV audience is highly concentrated and can be summarized as </a:t>
            </a:r>
            <a:r>
              <a:rPr lang="en-US" b="1" dirty="0"/>
              <a:t>Young, Male, and Black</a:t>
            </a:r>
            <a:r>
              <a:rPr lang="en-US" dirty="0"/>
              <a:t>. This indicates a very strong core user base but also a significant lack of diversity.</a:t>
            </a:r>
          </a:p>
          <a:p>
            <a:r>
              <a:rPr lang="en-US" b="1" dirty="0"/>
              <a:t>Age:</a:t>
            </a:r>
            <a:r>
              <a:rPr lang="en-US" dirty="0"/>
              <a:t> </a:t>
            </a:r>
            <a:r>
              <a:rPr lang="en-US" b="1" dirty="0"/>
              <a:t>Youth-dominated (60%)</a:t>
            </a:r>
            <a:r>
              <a:rPr lang="en-US" dirty="0"/>
              <a:t>. This is the primary audience, suggesting the channel's content or marketing strongly resonates with a younger demographic. Adults (34%) make up a secondary, but significant, group.</a:t>
            </a:r>
          </a:p>
          <a:p>
            <a:r>
              <a:rPr lang="en-US" b="1" dirty="0"/>
              <a:t>Gender:</a:t>
            </a:r>
            <a:r>
              <a:rPr lang="en-US" dirty="0"/>
              <a:t> </a:t>
            </a:r>
            <a:r>
              <a:rPr lang="en-US" b="1" dirty="0"/>
              <a:t>Overwhelmingly Male (87%)</a:t>
            </a:r>
            <a:r>
              <a:rPr lang="en-US" dirty="0"/>
              <a:t>. This is a massive skew, strongly indicating that the current content is perceived as masculine or is primarily sports that attract a male viewership.</a:t>
            </a:r>
          </a:p>
          <a:p>
            <a:r>
              <a:rPr lang="en-US" b="1" dirty="0"/>
              <a:t>Race:</a:t>
            </a:r>
            <a:r>
              <a:rPr lang="en-US" dirty="0"/>
              <a:t> </a:t>
            </a:r>
            <a:r>
              <a:rPr lang="en-US" b="1" dirty="0"/>
              <a:t>Black Majority (44%)</a:t>
            </a:r>
            <a:r>
              <a:rPr lang="en-US" dirty="0"/>
              <a:t>. Black viewers form the largest single group. The fact that "</a:t>
            </a:r>
            <a:r>
              <a:rPr lang="en-US" dirty="0" err="1"/>
              <a:t>Coloured</a:t>
            </a:r>
            <a:r>
              <a:rPr lang="en-US" dirty="0"/>
              <a:t>" is the second-largest at 16% suggests a potential for growth among other demographic groups in South Africa, including White and Indian populations.</a:t>
            </a:r>
          </a:p>
          <a:p>
            <a:r>
              <a:rPr lang="en-US" b="1" dirty="0"/>
              <a:t>Key Takeaway:</a:t>
            </a:r>
            <a:r>
              <a:rPr lang="en-US" dirty="0"/>
              <a:t> BRIGHT TV has successfully captured a specific, well-defined market segment. However, this homogeneity presents a major growth limitation and a risk of over-reliance on a single demographic.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0621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5F60-7BF5-9296-CF5B-DE2DDCAD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696" y="578785"/>
            <a:ext cx="10653578" cy="1132258"/>
          </a:xfrm>
        </p:spPr>
        <p:txBody>
          <a:bodyPr/>
          <a:lstStyle/>
          <a:p>
            <a:pPr algn="ctr"/>
            <a:r>
              <a:rPr lang="en-ZA" dirty="0"/>
              <a:t>USAGE OF BRIGHT TV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433921-D9A9-FCE6-23E9-7DFCEBBFAA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5330551"/>
              </p:ext>
            </p:extLst>
          </p:nvPr>
        </p:nvGraphicFramePr>
        <p:xfrm>
          <a:off x="0" y="1626282"/>
          <a:ext cx="6099139" cy="284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161DEA7-8ADC-C727-901F-BA3D8B6576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224021"/>
              </p:ext>
            </p:extLst>
          </p:nvPr>
        </p:nvGraphicFramePr>
        <p:xfrm>
          <a:off x="6613946" y="1243903"/>
          <a:ext cx="5578054" cy="3298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101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C4F2D96-A14C-3306-0F00-B2F4B01967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9214800"/>
              </p:ext>
            </p:extLst>
          </p:nvPr>
        </p:nvGraphicFramePr>
        <p:xfrm>
          <a:off x="1209368" y="1268361"/>
          <a:ext cx="9773264" cy="5397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60801A7-DE52-DADA-089C-125817A9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696" y="362476"/>
            <a:ext cx="10653578" cy="1132258"/>
          </a:xfrm>
        </p:spPr>
        <p:txBody>
          <a:bodyPr/>
          <a:lstStyle/>
          <a:p>
            <a:pPr algn="ctr"/>
            <a:r>
              <a:rPr lang="en-ZA" dirty="0"/>
              <a:t>USAGE OF BRIGHT TV</a:t>
            </a:r>
          </a:p>
        </p:txBody>
      </p:sp>
    </p:spTree>
    <p:extLst>
      <p:ext uri="{BB962C8B-B14F-4D97-AF65-F5344CB8AC3E}">
        <p14:creationId xmlns:p14="http://schemas.microsoft.com/office/powerpoint/2010/main" val="349417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5C12-55CA-E136-B88D-F15308D4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USAGE OF BRIGHT TV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FAB5744-6DC3-E439-0FFB-8427A3935D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1300187"/>
              </p:ext>
            </p:extLst>
          </p:nvPr>
        </p:nvGraphicFramePr>
        <p:xfrm>
          <a:off x="449702" y="1327355"/>
          <a:ext cx="11417833" cy="5309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39345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5C9C-7A94-B204-8CFD-EF5E112C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USAGE OF BRIGHT TV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1E10A1-E100-370B-CF51-898047F36B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082093"/>
              </p:ext>
            </p:extLst>
          </p:nvPr>
        </p:nvGraphicFramePr>
        <p:xfrm>
          <a:off x="612775" y="1716088"/>
          <a:ext cx="10653713" cy="4592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1884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2109-0ECD-6EEA-08BD-C0A32334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USAGE OF BRIGHT TV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5F617-5759-3005-A0EF-36718BF8B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usage data reveals clear patterns tied to time, day, and content type, which are crucial for scheduling and content strategy.</a:t>
            </a:r>
          </a:p>
          <a:p>
            <a:r>
              <a:rPr lang="en-US" b="1" dirty="0"/>
              <a:t>Time of Day:</a:t>
            </a:r>
            <a:r>
              <a:rPr lang="en-US" dirty="0"/>
              <a:t> </a:t>
            </a:r>
            <a:r>
              <a:rPr lang="en-US" b="1" dirty="0"/>
              <a:t>Highest in the Afternoon, Lowest in Late Night.</a:t>
            </a:r>
            <a:endParaRPr lang="en-US" dirty="0"/>
          </a:p>
          <a:p>
            <a:pPr lvl="1"/>
            <a:r>
              <a:rPr lang="en-US" b="1" dirty="0"/>
              <a:t>Analysis:</a:t>
            </a:r>
            <a:r>
              <a:rPr lang="en-US" dirty="0"/>
              <a:t> This aligns with typical daily routines. Afternoon viewing likely coincides with people returning from school or work, while late-night is off-peak for this audience.</a:t>
            </a:r>
          </a:p>
          <a:p>
            <a:r>
              <a:rPr lang="en-US" b="1" dirty="0"/>
              <a:t>Day of the Week:</a:t>
            </a:r>
            <a:r>
              <a:rPr lang="en-US" dirty="0"/>
              <a:t> </a:t>
            </a:r>
            <a:r>
              <a:rPr lang="en-US" b="1" dirty="0"/>
              <a:t>Highest on Saturdays, Lowest on Mondays.</a:t>
            </a:r>
            <a:endParaRPr lang="en-US" dirty="0"/>
          </a:p>
          <a:p>
            <a:pPr lvl="1"/>
            <a:r>
              <a:rPr lang="en-US" b="1" dirty="0"/>
              <a:t>Analysis:</a:t>
            </a:r>
            <a:r>
              <a:rPr lang="en-US" dirty="0"/>
              <a:t> This is a classic pattern for leisure and entertainment platforms. Saturday, as a weekend day, sees peak usage driven by free time. Monday, the start of the work/school week, sees a natural dip.</a:t>
            </a:r>
          </a:p>
          <a:p>
            <a:r>
              <a:rPr lang="en-US" b="1" dirty="0"/>
              <a:t>Content Preference:</a:t>
            </a:r>
            <a:r>
              <a:rPr lang="en-US" dirty="0"/>
              <a:t> </a:t>
            </a:r>
            <a:r>
              <a:rPr lang="en-US" b="1" dirty="0"/>
              <a:t>ICC Cricket World Cup 2011 (Most Watched) vs. Wimbledon (Least Watched).</a:t>
            </a:r>
            <a:endParaRPr lang="en-US" dirty="0"/>
          </a:p>
          <a:p>
            <a:pPr lvl="1"/>
            <a:r>
              <a:rPr lang="en-US" b="1" dirty="0"/>
              <a:t>Analysis:</a:t>
            </a:r>
            <a:r>
              <a:rPr lang="en-US" dirty="0"/>
              <a:t> This is the most critical insight. It shows that viewership is not just about "sports" in general, but about </a:t>
            </a:r>
            <a:r>
              <a:rPr lang="en-US" b="1" dirty="0"/>
              <a:t>specific, culturally relevant sporting events</a:t>
            </a:r>
            <a:r>
              <a:rPr lang="en-US" dirty="0"/>
              <a:t>. Cricket, particularly a major, high-stakes tournament like the World Cup, is the primary driver of engagement. Wimbledon (Tennis), while a global premium event, has significantly less appeal to the core BRIGHT TV audience.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8502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65D7-0675-43EC-E8E2-4DA91C7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INFLUENCES CONSUMPTION?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BD1B2-8C66-2BE7-7DC8-64A59163A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Time of Day:</a:t>
            </a:r>
            <a:r>
              <a:rPr lang="en-US" dirty="0"/>
              <a:t> Viewership is highest in the afternoon and lowest in the late night. This suggests that consumption is heavily influenced by viewers' daily routines and availability.</a:t>
            </a:r>
          </a:p>
          <a:p>
            <a:r>
              <a:rPr lang="en-US" b="1" dirty="0"/>
              <a:t>Day of the Week:</a:t>
            </a:r>
            <a:r>
              <a:rPr lang="en-US" dirty="0"/>
              <a:t> Usage is higher on Saturdays (a weekend) and lower on Mondays (the start of the work/school week). This indicates that leisure time is a major driver of consumption.</a:t>
            </a:r>
          </a:p>
          <a:p>
            <a:r>
              <a:rPr lang="en-US" b="1" dirty="0"/>
              <a:t>Type of Content/Sport:</a:t>
            </a:r>
            <a:r>
              <a:rPr lang="en-US" dirty="0"/>
              <a:t> The most-watched channel was the </a:t>
            </a:r>
            <a:r>
              <a:rPr lang="en-US" b="1" dirty="0"/>
              <a:t>ICC Cricket World Cup 2011</a:t>
            </a:r>
            <a:r>
              <a:rPr lang="en-US" dirty="0"/>
              <a:t>, while the least was </a:t>
            </a:r>
            <a:r>
              <a:rPr lang="en-US" b="1" dirty="0"/>
              <a:t>Wimbledon</a:t>
            </a:r>
            <a:r>
              <a:rPr lang="en-US" dirty="0"/>
              <a:t>. This strongly suggests that the popularity and cultural relevance of specific sports events are a critical factor in driving viewership.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59286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E100-3A90-E185-EAC6-581B60B8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WHAT CONTENT I RECOMMEND TO INCREASE CONSUMPTION ON THE DAYS WITH LOW CONSUMPTION?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6BA3-DABC-2677-00B0-66807F6A2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182760"/>
            <a:ext cx="10653579" cy="4126599"/>
          </a:xfrm>
        </p:spPr>
        <p:txBody>
          <a:bodyPr>
            <a:normAutofit/>
          </a:bodyPr>
          <a:lstStyle/>
          <a:p>
            <a:r>
              <a:rPr lang="en-US" dirty="0"/>
              <a:t>To increase consumption on low-viewership days like </a:t>
            </a:r>
            <a:r>
              <a:rPr lang="en-US" b="1" dirty="0"/>
              <a:t>Monday</a:t>
            </a:r>
            <a:r>
              <a:rPr lang="en-US" dirty="0"/>
              <a:t>, I would recommend content that is either highly engaging or fits into a weekday routine.</a:t>
            </a:r>
          </a:p>
          <a:p>
            <a:r>
              <a:rPr lang="en-US" b="1" dirty="0"/>
              <a:t>"Weeknight Primetime" Sports Highlights &amp; Analysis:</a:t>
            </a:r>
            <a:r>
              <a:rPr lang="en-US" dirty="0"/>
              <a:t> Since the audience is predominantly male and sports-focused, create a flagship highlights show that airs on Monday evenings. It should recap the weekend's major sporting events (especially cricket, given its popularity) and preview upcoming matches. This gives people a reason to tune in at the start of the week.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2429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F1B2-4B4C-12CB-708F-28A8E8DB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WHAT CONTENT I RECOMMEND TO INCREASE CONSUMPTION ON THE DAYS WITH LOW CONSUMPTION?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5809-D79F-9F56-9386-99F1D890F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172928"/>
            <a:ext cx="10653579" cy="4136431"/>
          </a:xfrm>
        </p:spPr>
        <p:txBody>
          <a:bodyPr/>
          <a:lstStyle/>
          <a:p>
            <a:r>
              <a:rPr lang="en-US" b="1" dirty="0"/>
              <a:t>Exclusive, Shorter-Format Live Sports:</a:t>
            </a:r>
            <a:r>
              <a:rPr lang="en-US" dirty="0"/>
              <a:t> If possible, secure broadcasting rights for sports leagues or tournaments that have weekday matches, such as domestic T20 cricket leagues or mid-week football fixtures. The "afternoon" peak suggests viewers may also watch after school or work.</a:t>
            </a:r>
          </a:p>
          <a:p>
            <a:r>
              <a:rPr lang="en-US" b="1" dirty="0"/>
              <a:t>Re-runs of Classic Matches:</a:t>
            </a:r>
            <a:r>
              <a:rPr lang="en-US" dirty="0"/>
              <a:t> Package and air iconic historical matches, particularly from the ICC Cricket World Cup, on Monday nights. Market it as "Classic Match Monday" to build a consistent viewing habit.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4215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D837-9221-DB70-375F-41D5E35C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WHAT TYPE OF INITIATIVE IS RECOMMENDED TO GROW BRIGHT TV’S USER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B255-AB94-66AD-6F7C-7FB769E32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To grow the user base, initiatives should focus on expanding beyond the core demographic of young, Black males.</a:t>
            </a:r>
          </a:p>
          <a:p>
            <a:pPr marL="0" indent="0">
              <a:buNone/>
            </a:pPr>
            <a:r>
              <a:rPr lang="en-US" b="1" dirty="0"/>
              <a:t>1. Initiatives to Attract More Female Viewers:</a:t>
            </a:r>
            <a:endParaRPr lang="en-US" dirty="0"/>
          </a:p>
          <a:p>
            <a:pPr lvl="2"/>
            <a:r>
              <a:rPr lang="en-US" b="1" dirty="0"/>
              <a:t>Content Diversification:</a:t>
            </a:r>
            <a:r>
              <a:rPr lang="en-US" dirty="0"/>
              <a:t> Introduce sports that have a strong female viewership or participation, such as netball, women's cricket, tennis, and athletics.</a:t>
            </a:r>
          </a:p>
          <a:p>
            <a:pPr lvl="2"/>
            <a:r>
              <a:rPr lang="en-US" b="1" dirty="0"/>
              <a:t>Lifestyle &amp; Wellness Integration:</a:t>
            </a:r>
            <a:r>
              <a:rPr lang="en-US" dirty="0"/>
              <a:t> Create shows that sit at the intersection of sports and lifestyle, like athlete fitness routines, sports nutrition, and documentaries about female sports stars.</a:t>
            </a:r>
          </a:p>
          <a:p>
            <a:pPr marL="228600" lvl="1" indent="0">
              <a:buNone/>
            </a:pPr>
            <a:r>
              <a:rPr lang="en-US" b="1" dirty="0"/>
              <a:t>2. Initiatives to Broaden Ethnic &amp; Age Diversity:</a:t>
            </a:r>
            <a:endParaRPr lang="en-US" dirty="0"/>
          </a:p>
          <a:p>
            <a:pPr lvl="2"/>
            <a:r>
              <a:rPr lang="en-US" b="1" dirty="0"/>
              <a:t>Multi-Sport Coverage:</a:t>
            </a:r>
            <a:r>
              <a:rPr lang="en-US" dirty="0"/>
              <a:t> While cricket is the top performer, strategically add other popular sports in South Africa like Rugby, Soccer, and Boxing to attract the </a:t>
            </a:r>
            <a:r>
              <a:rPr lang="en-US" dirty="0" err="1"/>
              <a:t>Coloured</a:t>
            </a:r>
            <a:r>
              <a:rPr lang="en-US" dirty="0"/>
              <a:t> and White demographics, as well as older adults.</a:t>
            </a:r>
          </a:p>
          <a:p>
            <a:pPr lvl="2"/>
            <a:r>
              <a:rPr lang="en-US" b="1" dirty="0"/>
              <a:t>Digital-First Content for the Youth:</a:t>
            </a:r>
            <a:r>
              <a:rPr lang="en-US" dirty="0"/>
              <a:t> Double down on the youth demographic by creating short, engaging content for platforms like TikTok, YouTube, and Instagram. This could include game highlights, athlete interviews, and behind-the-scenes footage to drive awareness and funnel younger viewers to the TV channel.</a:t>
            </a:r>
          </a:p>
          <a:p>
            <a:pPr marL="0" indent="0">
              <a:buNone/>
            </a:pPr>
            <a:br>
              <a:rPr lang="en-US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001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7CC5-4B5A-E301-B7F7-AFB60413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WHAT TYPE OF INITIATIVE IS RECOMMENDED TO GROW BRIGHT TV’S USER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B7ED7-3AE1-B1C0-3FB5-F27CFF111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Community &amp; Interactive Initiatives:</a:t>
            </a:r>
            <a:endParaRPr lang="en-US" dirty="0"/>
          </a:p>
          <a:p>
            <a:pPr lvl="1"/>
            <a:r>
              <a:rPr lang="en-US" b="1" dirty="0"/>
              <a:t>Fantasy Leagues &amp; Predictions:</a:t>
            </a:r>
            <a:r>
              <a:rPr lang="en-US" dirty="0"/>
              <a:t> Launch an official BRIGHT TV fantasy sports league or prediction game, especially around cricket. This increases engagement and makes viewership more interactive.</a:t>
            </a:r>
          </a:p>
          <a:p>
            <a:pPr lvl="1"/>
            <a:r>
              <a:rPr lang="en-US" b="1" dirty="0"/>
              <a:t>Local Sports Partnerships:</a:t>
            </a:r>
            <a:r>
              <a:rPr lang="en-US" dirty="0"/>
              <a:t> Partner with local schools, universities, and community sports leagues. Offer to broadcast local tournaments or feature up-and-coming local athletes, building a strong community connection and loyal viewership from the ground up.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3666435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1064</Words>
  <Application>Microsoft Office PowerPoint</Application>
  <PresentationFormat>Widescreen</PresentationFormat>
  <Paragraphs>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Neue Haas Grotesk Text Pro</vt:lpstr>
      <vt:lpstr>VanillaVTI</vt:lpstr>
      <vt:lpstr>BRIGHT TV</vt:lpstr>
      <vt:lpstr>USERS OF BRIGHT TV</vt:lpstr>
      <vt:lpstr>DEMOGRAPICS OF BRIGHT TV</vt:lpstr>
      <vt:lpstr>USAGE OF BRIGHT TV</vt:lpstr>
      <vt:lpstr>USAGE OF BRIGHT TV</vt:lpstr>
      <vt:lpstr>USAGE OF BRIGHT TV</vt:lpstr>
      <vt:lpstr>USAGE OF BRIGHT TV</vt:lpstr>
      <vt:lpstr>USAGE OF BRIGHT TV</vt:lpstr>
      <vt:lpstr>WHAT INFLUENCES CONSUMPTION?</vt:lpstr>
      <vt:lpstr>WHAT CONTENT I RECOMMEND TO INCREASE CONSUMPTION ON THE DAYS WITH LOW CONSUMPTION?</vt:lpstr>
      <vt:lpstr>WHAT CONTENT I RECOMMEND TO INCREASE CONSUMPTION ON THE DAYS WITH LOW CONSUMPTION?</vt:lpstr>
      <vt:lpstr>WHAT TYPE OF INITIATIVE IS RECOMMENDED TO GROW BRIGHT TV’S USER BASE</vt:lpstr>
      <vt:lpstr>WHAT TYPE OF INITIATIVE IS RECOMMENDED TO GROW BRIGHT TV’S USER 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Vutihlamuleri Baloyi</dc:creator>
  <cp:lastModifiedBy>Vutihlamuleri Baloyi</cp:lastModifiedBy>
  <cp:revision>5</cp:revision>
  <dcterms:created xsi:type="dcterms:W3CDTF">2025-10-31T20:52:58Z</dcterms:created>
  <dcterms:modified xsi:type="dcterms:W3CDTF">2025-11-06T08:40:43Z</dcterms:modified>
</cp:coreProperties>
</file>